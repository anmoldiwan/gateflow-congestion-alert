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ecafe7d-e736-d4f9-62a9-59562e9cf620}">
          <p14:sldIdLst>
            <p14:sldId id="256"/>
          </p14:sldIdLst>
        </p14:section>
        <p14:section name="1 Problem &amp; users" id="{820d566d-9c68-e4de-ff73-c89eb742dedc}">
          <p14:sldIdLst>
            <p14:sldId id="257"/>
          </p14:sldIdLst>
        </p14:section>
        <p14:section name="2 Idea &amp; innovation" id="{bb8f3385-c520-8e6a-87af-6745b1f59412}">
          <p14:sldIdLst>
            <p14:sldId id="258"/>
          </p14:sldIdLst>
        </p14:section>
        <p14:section name="3 Architecture &amp; approach" id="{84afb2db-4f88-ef58-6927-d585d062f25a}">
          <p14:sldIdLst>
            <p14:sldId id="259"/>
            <p14:sldId id="260"/>
            <p14:sldId id="261"/>
          </p14:sldIdLst>
        </p14:section>
        <p14:section name="4 Prototype demo" id="{b5b30d96-9510-9ff7-6f3f-1df18ad62fbe}">
          <p14:sldIdLst>
            <p14:sldId id="262"/>
            <p14:sldId id="263"/>
            <p14:sldId id="264"/>
            <p14:sldId id="265"/>
          </p14:sldIdLst>
        </p14:section>
        <p14:section name="5 Testing &amp; results" id="{b5f76ab0-2742-0c20-6967-19cb0c21fc3b}">
          <p14:sldIdLst>
            <p14:sldId id="266"/>
            <p14:sldId id="267"/>
            <p14:sldId id="268"/>
          </p14:sldIdLst>
        </p14:section>
        <p14:section name="6 Responsible AI &amp; SDGs" id="{b9a1ec3c-9e03-494b-af36-581e24e5cd7b}">
          <p14:sldIdLst>
            <p14:sldId id="269"/>
            <p14:sldId id="270"/>
          </p14:sldIdLst>
        </p14:section>
        <p14:section name="7 Conclusion" id="{e1cf5abe-7cb8-278c-0770-b48675a54400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32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329"/>
                </a:solidFill>
                <a:latin typeface="+mn-lt"/>
              </a:rPr>
              <a:t>Macro-F1 on 494 held-out forecasts (1.0 = perfect)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B8BEC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BEC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BEC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BEC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BEC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Majority class</c:v>
                  </c:pt>
                  <c:pt idx="1">
                    <c:v>Historical average</c:v>
                  </c:pt>
                  <c:pt idx="2">
                    <c:v>Same hour last week</c:v>
                  </c:pt>
                  <c:pt idx="3">
                    <c:v>Logistic regression</c:v>
                  </c:pt>
                  <c:pt idx="4">
                    <c:v>Gradient boosting (ours)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0.226</c:v>
                </c:pt>
                <c:pt idx="1">
                  <c:v>0.397</c:v>
                </c:pt>
                <c:pt idx="2">
                  <c:v>0.607</c:v>
                </c:pt>
                <c:pt idx="3">
                  <c:v>0.66</c:v>
                </c:pt>
                <c:pt idx="4">
                  <c:v>0.733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1E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32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329"/>
                </a:solidFill>
                <a:latin typeface="+mn-lt"/>
              </a:rPr>
              <a:t>Drop in macro-F1 when a factor is shuffled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Recent volume &amp; trend</c:v>
                  </c:pt>
                  <c:pt idx="1">
                    <c:v>Usual volume (yesterday / last week)</c:v>
                  </c:pt>
                  <c:pt idx="2">
                    <c:v>Season (month)</c:v>
                  </c:pt>
                  <c:pt idx="3">
                    <c:v>Time of day</c:v>
                  </c:pt>
                  <c:pt idx="4">
                    <c:v>Weather, holiday, weekday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0.191</c:v>
                </c:pt>
                <c:pt idx="1">
                  <c:v>0.135</c:v>
                </c:pt>
                <c:pt idx="2">
                  <c:v>0.012</c:v>
                </c:pt>
                <c:pt idx="3">
                  <c:v>0.006</c:v>
                </c:pt>
                <c:pt idx="4">
                  <c:v>0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GateFlow: it warns the college one hour before the gate road jams, so students and staff can act early. Be clear from the start that it is a proof of concept trained on real public data, not connected to live traffic.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arrivals bunch into two hours, and on bad mornings the approach road jams. Intended users are the transport office (main decision-maker), gate security, students and staff, and shuttle operators.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ideas set GateFlow apart: an honest one-hour-ahead forecast, an explanation for each forecast, a model that runs entirely in the browser (so no server), and practical tools for the transport office.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Data: the public Metro Interstate Traffic Volume dataset, with all four required fields. Labels come from volume because there are no speeds. Explain the cleaning, and stress the chronological split: the test year was never seen during training or model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hourly records are cleaned, turned into clues known one hour ahead, scored by the gradient-boosting model, and shown as a level, an alert and an explanation. Bottom row: training with a held-out test year, baselines and metrics, then export to the browser through GitHub and Vercel.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gradient boosting simply: many small yes/no trees, each fixing the previous ones' mistakes. It suits small tables of numbers, trains in seconds and can be explained. It was chosen by validation on training years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open the site, Replay tab, 12 Sep 2018 08:00. Show the alert, the why chart, then scroll to the timeline and click another point. The model never saw this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Besides replay, the office can test scenarios, type in today's counts, or upload a whole CSV. Uploaded files never leave the browser. The Model performance and About tabs show the evaluation and the responsible-AI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 learns from history, so it cannot see one-off events like a crash or a closed road. The agent starts from the ML forecast and runs a loop: observe, plan, act by calling tools (government incident feed, roadworks permits, news), reason about route and timing, reflect by cross-checking sources, then decide. If the road is blocked, it overrides the forecast to High. It never alerts on a rumour alone. The ML model itself is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open the Agentic AI tab, pick Accident blocks the road, press Run agent and let the steps appear. Then show the rumour scenario: the agent refuses to raise an alarm on an unverified post and asks a human to check. That is responsible AI in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on the held-out year: macro-F1 0.73 against 0.61 for the best baseline. Explain macro-F1: it checks each level fairly, unlike accuracy. The alert catches 4 of 5 jams with about one false alarm a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failures honestly. Most mistakes sit right at a level boundary. The worst miss followed a quiet early morning with a sudden surge. Ten cases are in the report and on the website's performance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Recent traffic and usual traffic for the slot dominate. Be upfront about the limits: no live feed, a stand-in road, volume-based labels, hourly resolution, and no campus calendar.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six responsible-AI areas: privacy, bias, security, accessibility, limitations and human oversight. The key point is that GateFlow advises and a person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goal is SDG 11.2, safe and sustainable transport, supported by health (SDG 3), climate (SDG 13), infrastructure (SDG 9) and education (SDG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separating what works today from what is planned. The most important next step is our own gate counts, which need no code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judges and invite questions. Have the website open for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GateFlow · VIT AI Innovate-A-Thon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3-1.png"/><Relationship Id="rId3" Type="http://schemas.openxmlformats.org/officeDocument/2006/relationships/image" Target="../media/image-13-2.png"/><Relationship Id="rId4" Type="http://schemas.openxmlformats.org/officeDocument/2006/relationships/image" Target="../media/image-13-3.png"/><Relationship Id="rId5" Type="http://schemas.openxmlformats.org/officeDocument/2006/relationships/image" Target="../media/image-13-4.png"/><Relationship Id="rId6" Type="http://schemas.openxmlformats.org/officeDocument/2006/relationships/image" Target="../media/image-13-5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822960" cy="82296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GateFlow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</a:rPr>
              <a:t>Smart traffic congestion alert for campus arrivals, 08:00–10:00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Forecasts Low / Moderate / High one hour ahead · explains why · alerts before the jam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VIT AI Innovate-A-Thon · Question 2 · October 2026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Proof of concept on real public traffic data · no live traffic feed connected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329"/>
                </a:solidFill>
              </a:rPr>
              <a:t>Students all arrive 08:00–10:00 and the gate road jams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840480" cy="4800600"/>
          </a:xfrm>
          <a:prstGeom prst="roundRect">
            <a:avLst>
              <a:gd name="adj" fmla="val 2857"/>
            </a:avLst>
          </a:prstGeom>
          <a:solidFill>
            <a:srgbClr val="1E2329"/>
          </a:solidFill>
          <a:ln w="12700">
            <a:solidFill>
              <a:srgbClr val="1E23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8A317"/>
                </a:solidFill>
              </a:rPr>
              <a:t>2 hours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when most of campus arrives at the same gate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29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D03B3B"/>
                </a:solidFill>
              </a:rPr>
              <a:t>23%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389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of weekday 8–10 AM hours reach High congestion in our data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166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</a:rPr>
              <a:t>Congestion depends on vehicle volume, weather and events. A warning only helps if it comes before the jam.</a:t>
            </a:r>
            <a:endParaRPr lang="en-US" sz="1250" dirty="0"/>
          </a:p>
        </p:txBody>
      </p:sp>
      <p:sp>
        <p:nvSpPr>
          <p:cNvPr id="9" name="icon-circle"/>
          <p:cNvSpPr/>
          <p:nvPr/>
        </p:nvSpPr>
        <p:spPr>
          <a:xfrm>
            <a:off x="4846320" y="1417320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1044" y="1542044"/>
            <a:ext cx="317480" cy="3174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62356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329"/>
                </a:solidFill>
              </a:rPr>
              <a:t>Transport / admin office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623560" y="175564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Decides on extra shuttles, a second gate and marshals. Gets the 07:00 alert with actions.</a:t>
            </a:r>
            <a:endParaRPr lang="en-US" sz="1400" dirty="0"/>
          </a:p>
        </p:txBody>
      </p:sp>
      <p:sp>
        <p:nvSpPr>
          <p:cNvPr id="13" name="icon-circle"/>
          <p:cNvSpPr/>
          <p:nvPr/>
        </p:nvSpPr>
        <p:spPr>
          <a:xfrm>
            <a:off x="4846320" y="2624328"/>
            <a:ext cx="566928" cy="566928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044" y="2749052"/>
            <a:ext cx="317480" cy="317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623560" y="25786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329"/>
                </a:solidFill>
              </a:rPr>
              <a:t>Gate security staff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5623560" y="2962656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Needs to know when crowds peak. Gets a simple level plus the reason.</a:t>
            </a:r>
            <a:endParaRPr lang="en-US" sz="1400" dirty="0"/>
          </a:p>
        </p:txBody>
      </p:sp>
      <p:sp>
        <p:nvSpPr>
          <p:cNvPr id="17" name="icon-circle"/>
          <p:cNvSpPr/>
          <p:nvPr/>
        </p:nvSpPr>
        <p:spPr>
          <a:xfrm>
            <a:off x="4846320" y="3831336"/>
            <a:ext cx="566928" cy="566928"/>
          </a:xfrm>
          <a:prstGeom prst="ellipse">
            <a:avLst/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044" y="3956060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623560" y="378561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329"/>
                </a:solidFill>
              </a:rPr>
              <a:t>Students and staff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623560" y="4169664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Want to arrive on time. Get a "leave 20 minutes earlier" message via the office.</a:t>
            </a:r>
            <a:endParaRPr lang="en-US" sz="1400" dirty="0"/>
          </a:p>
        </p:txBody>
      </p:sp>
      <p:sp>
        <p:nvSpPr>
          <p:cNvPr id="21" name="icon-circle"/>
          <p:cNvSpPr/>
          <p:nvPr/>
        </p:nvSpPr>
        <p:spPr>
          <a:xfrm>
            <a:off x="4846320" y="5038344"/>
            <a:ext cx="566928" cy="56692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044" y="5163068"/>
            <a:ext cx="317480" cy="3174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623560" y="49926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329"/>
                </a:solidFill>
              </a:rPr>
              <a:t>Shuttle operators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5623560" y="537667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Plan trips around peaks. Get forecasts for every weekday, as CSV.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329"/>
                </a:solidFill>
              </a:rPr>
              <a:t>A one-hour-ahead forecast that explains itself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188823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37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329"/>
                </a:solidFill>
              </a:rPr>
              <a:t>Forecast, not hindsight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4028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At 07:00 it predicts 08:00–09:00, using only what is known at 07:00. It never sees the answer.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172200" y="137160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icon-circle"/>
          <p:cNvSpPr/>
          <p:nvPr/>
        </p:nvSpPr>
        <p:spPr>
          <a:xfrm>
            <a:off x="6492240" y="1737360"/>
            <a:ext cx="685800" cy="6858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188823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737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329"/>
                </a:solidFill>
              </a:rPr>
              <a:t>Explains every forecast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7406640" y="224028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Shows how much recent traffic, usual traffic, weather and holidays push the chance of High up or down.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379476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icon-circle"/>
          <p:cNvSpPr/>
          <p:nvPr/>
        </p:nvSpPr>
        <p:spPr>
          <a:xfrm>
            <a:off x="868680" y="4160520"/>
            <a:ext cx="685800" cy="685800"/>
          </a:xfrm>
          <a:prstGeom prst="ellipse">
            <a:avLst/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431139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4160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329"/>
                </a:solidFill>
              </a:rPr>
              <a:t>AI that runs in the browser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46634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The trained trees are exported to JSON and run in JavaScript, identical to scikit-learn. Free hosting, instant, private.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172200" y="379476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icon-circle"/>
          <p:cNvSpPr/>
          <p:nvPr/>
        </p:nvSpPr>
        <p:spPr>
          <a:xfrm>
            <a:off x="6492240" y="4160520"/>
            <a:ext cx="685800" cy="685800"/>
          </a:xfrm>
          <a:prstGeom prst="ellipse">
            <a:avLst/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431139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4160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329"/>
                </a:solidFill>
              </a:rPr>
              <a:t>Built for real use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46634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Replay any day, what-if sliders, type today's numbers, upload a CSV and download forecasts.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329"/>
                </a:solidFill>
              </a:rPr>
              <a:t>Real data: 6 years of hourly traffic, weather and holidays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035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Task field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Dataset column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Timestamp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date_time (hourly, Oct 2012 – Sep 2018)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Vehicle count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traffic_volume (vehicles per hour)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Weather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weather_main + temp, rain, snow, clouds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Event indicator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holiday (US holidays, State Fair)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4290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UCI Machine Learning Repository / Kaggle · 48,204 rows · CC BY 4.0 · highway I-94 used as a stand-in for the campus road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949440" y="1371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Labels (volume-to-capacity proxy)</a:t>
            </a:r>
            <a:endParaRPr lang="en-US" sz="1700" dirty="0"/>
          </a:p>
        </p:txBody>
      </p:sp>
      <p:sp>
        <p:nvSpPr>
          <p:cNvPr id="6" name="level-chip"/>
          <p:cNvSpPr/>
          <p:nvPr/>
        </p:nvSpPr>
        <p:spPr>
          <a:xfrm>
            <a:off x="6949440" y="1828800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0" y="18288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Low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18288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329"/>
                </a:solidFill>
              </a:rPr>
              <a:t>&lt; 5,000 veh/h</a:t>
            </a:r>
            <a:endParaRPr lang="en-US" sz="1400" dirty="0"/>
          </a:p>
        </p:txBody>
      </p:sp>
      <p:sp>
        <p:nvSpPr>
          <p:cNvPr id="9" name="level-chip"/>
          <p:cNvSpPr/>
          <p:nvPr/>
        </p:nvSpPr>
        <p:spPr>
          <a:xfrm>
            <a:off x="6949440" y="2395728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49440" y="23957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Moderate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23957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329"/>
                </a:solidFill>
              </a:rPr>
              <a:t>5,000 – 5,800</a:t>
            </a:r>
            <a:endParaRPr lang="en-US" sz="1400" dirty="0"/>
          </a:p>
        </p:txBody>
      </p:sp>
      <p:sp>
        <p:nvSpPr>
          <p:cNvPr id="12" name="level-chip"/>
          <p:cNvSpPr/>
          <p:nvPr/>
        </p:nvSpPr>
        <p:spPr>
          <a:xfrm>
            <a:off x="6949440" y="2962656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49440" y="29626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0" y="296265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329"/>
                </a:solidFill>
              </a:rPr>
              <a:t>≥ 5,800 (≈85% of capacity)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Preprocessing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4805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Dedupe hours (7,629 duplicate rows), spread the holiday flag to the whole day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Fix sensor errors; the 2014–15 outage stays empty, never invented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Weekdays only, target hours 08:00 and 09:00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4069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Chronological split, never shuffled</a:t>
            </a:r>
            <a:endParaRPr lang="en-US" sz="1700" dirty="0"/>
          </a:p>
        </p:txBody>
      </p:sp>
      <p:sp>
        <p:nvSpPr>
          <p:cNvPr id="18" name="split-train"/>
          <p:cNvSpPr/>
          <p:nvPr/>
        </p:nvSpPr>
        <p:spPr>
          <a:xfrm>
            <a:off x="6949440" y="4572000"/>
            <a:ext cx="3657600" cy="502920"/>
          </a:xfrm>
          <a:prstGeom prst="rect">
            <a:avLst/>
          </a:prstGeom>
          <a:solidFill>
            <a:srgbClr val="2A78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plit-test"/>
          <p:cNvSpPr/>
          <p:nvPr/>
        </p:nvSpPr>
        <p:spPr>
          <a:xfrm>
            <a:off x="10607040" y="4572000"/>
            <a:ext cx="1005840" cy="502920"/>
          </a:xfrm>
          <a:prstGeom prst="rect">
            <a:avLst/>
          </a:prstGeom>
          <a:solidFill>
            <a:srgbClr val="D03B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040880" y="4572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 2012–2017 · 986 days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607040" y="4572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949440" y="52120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Validation = 4 expanding-window CV folds inside train, used only to choose the model. Test = last year, 247 days, 494 forecasts, used once.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329"/>
                </a:solidFill>
              </a:rPr>
              <a:t>Architecture: data in, forecast and alert out</a:t>
            </a:r>
            <a:endParaRPr lang="en-US" sz="3200" dirty="0"/>
          </a:p>
        </p:txBody>
      </p:sp>
      <p:pic>
        <p:nvPicPr>
          <p:cNvPr id="3" name="architecture" descr="Architecture: data input, preprocessing, features, model, output; training, baselines and deployment be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1064240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329"/>
                </a:solidFill>
              </a:rPr>
              <a:t>A lightweight model: 200 small trees, trained in 11 seconds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86400" cy="4663440"/>
          </a:xfrm>
          <a:prstGeom prst="roundRect">
            <a:avLst>
              <a:gd name="adj" fmla="val 23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Clues known one hour before the arrival hour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</a:rPr>
              <a:t>Traffic in the last finished hour, and its trend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</a:rPr>
              <a:t>Same hour yesterday and last week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</a:rPr>
              <a:t>Weather now: type, temperature, rain, snow, cloud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</a:rPr>
              <a:t>Holiday or event that day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</a:rPr>
              <a:t>Arrival hour, weekday, month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480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Example on 12 Sep 2018: 5,908 cars at 6–7 AM, up 2,823 on the hour before, rain → 99% chance of High.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3716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</a:rPr>
              <a:t>HistGradientBoosting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202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200 trees, 3 questions deep, each fixing the last one's mistakes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560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329"/>
                </a:solidFill>
              </a:rPr>
              <a:t>11 s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108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training time on a laptop CPU: no GPU, no deep learning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749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329"/>
                </a:solidFill>
              </a:rPr>
              <a:t>0.705 vs 0.672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4297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validation macro-F1 vs logistic regression, so it was picked before testing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9377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329"/>
                </a:solidFill>
              </a:rPr>
              <a:t>3 × 10⁻⁷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54864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largest gap between browser and scikit-learn outputs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329"/>
                </a:solidFill>
              </a:rPr>
              <a:t>Demo: a day the model never saw, caught one hour early</a:t>
            </a:r>
            <a:endParaRPr lang="en-US" sz="3200" dirty="0"/>
          </a:p>
        </p:txBody>
      </p:sp>
      <p:pic>
        <p:nvPicPr>
          <p:cNvPr id="3" name="demo-replay" descr="Replay of 12 Sep 2018: High congestion alert with 99% chance, factor chart and road 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078866" cy="4892040"/>
          </a:xfrm>
          <a:prstGeom prst="rect">
            <a:avLst/>
          </a:prstGeom>
        </p:spPr>
      </p:pic>
      <p:sp>
        <p:nvSpPr>
          <p:cNvPr id="4" name="step"/>
          <p:cNvSpPr/>
          <p:nvPr/>
        </p:nvSpPr>
        <p:spPr>
          <a:xfrm>
            <a:off x="6993266" y="1325880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99326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329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633346" y="1307592"/>
            <a:ext cx="4009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Pick a held-out day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633346" y="1691640"/>
            <a:ext cx="40097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Wed 12 Sep 2018, rainy. Forecast made at 07:00.</a:t>
            </a:r>
            <a:endParaRPr lang="en-US" sz="1350" dirty="0"/>
          </a:p>
        </p:txBody>
      </p:sp>
      <p:sp>
        <p:nvSpPr>
          <p:cNvPr id="8" name="step"/>
          <p:cNvSpPr/>
          <p:nvPr/>
        </p:nvSpPr>
        <p:spPr>
          <a:xfrm>
            <a:off x="6993266" y="2542032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93266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329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33346" y="2523744"/>
            <a:ext cx="4009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Red alert + actions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633346" y="2907792"/>
            <a:ext cx="40097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99% chance of High: leave earlier, open Gate 3, extra shuttle.</a:t>
            </a:r>
            <a:endParaRPr lang="en-US" sz="1350" dirty="0"/>
          </a:p>
        </p:txBody>
      </p:sp>
      <p:sp>
        <p:nvSpPr>
          <p:cNvPr id="12" name="step"/>
          <p:cNvSpPr/>
          <p:nvPr/>
        </p:nvSpPr>
        <p:spPr>
          <a:xfrm>
            <a:off x="6993266" y="3758184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93266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329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633346" y="3739896"/>
            <a:ext cx="4009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See why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633346" y="4123944"/>
            <a:ext cx="40097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Usual traffic for this slot adds +27 points to the chance of High.</a:t>
            </a:r>
            <a:endParaRPr lang="en-US" sz="1350" dirty="0"/>
          </a:p>
        </p:txBody>
      </p:sp>
      <p:sp>
        <p:nvSpPr>
          <p:cNvPr id="16" name="step"/>
          <p:cNvSpPr/>
          <p:nvPr/>
        </p:nvSpPr>
        <p:spPr>
          <a:xfrm>
            <a:off x="6993266" y="4974336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93266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329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633346" y="4956048"/>
            <a:ext cx="4009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Check the truth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633346" y="5340096"/>
            <a:ext cx="40097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Actual: 6,297 veh/h, High. The forecast was correct.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329"/>
                </a:solidFill>
              </a:rPr>
              <a:t>User workflow: three ways to get a forecast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66160" cy="4180114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4" name="shot-0" descr="What-if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3291840" cy="18183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408867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329"/>
                </a:solidFill>
              </a:rPr>
              <a:t>What-if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54587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Drag sliders for traffic, weather, month or holiday. The alert updates live.</a:t>
            </a:r>
            <a:endParaRPr lang="en-US" sz="1350" dirty="0"/>
          </a:p>
        </p:txBody>
      </p:sp>
      <p:sp>
        <p:nvSpPr>
          <p:cNvPr id="7" name="card"/>
          <p:cNvSpPr/>
          <p:nvPr/>
        </p:nvSpPr>
        <p:spPr>
          <a:xfrm>
            <a:off x="4297680" y="1325880"/>
            <a:ext cx="3566160" cy="4180114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8" name="shot-1" descr="Manual entry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463040"/>
            <a:ext cx="3291840" cy="181835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0" y="408867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329"/>
                </a:solidFill>
              </a:rPr>
              <a:t>Manual entry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454587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Type today's hourly counts and weather into a table, then get the 08:00 or 09:00 forecast.</a:t>
            </a:r>
            <a:endParaRPr lang="en-US" sz="1350" dirty="0"/>
          </a:p>
        </p:txBody>
      </p:sp>
      <p:sp>
        <p:nvSpPr>
          <p:cNvPr id="11" name="card"/>
          <p:cNvSpPr/>
          <p:nvPr/>
        </p:nvSpPr>
        <p:spPr>
          <a:xfrm>
            <a:off x="8046720" y="1325880"/>
            <a:ext cx="3566160" cy="4180114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12" name="shot-2" descr="Upload CSV scre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463040"/>
            <a:ext cx="3291840" cy="235131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321040" y="408867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329"/>
                </a:solidFill>
              </a:rPr>
              <a:t>Upload CSV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8321040" y="454587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Drop a file: every weekday peak in it gets a forecast, with a table and CSV download.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329"/>
                </a:solidFill>
              </a:rPr>
              <a:t>Agentic AI: ML predicts patterns, the agent handles surprises</a:t>
            </a:r>
            <a:endParaRPr lang="en-US" sz="3200" dirty="0"/>
          </a:p>
        </p:txBody>
      </p:sp>
      <p:sp>
        <p:nvSpPr>
          <p:cNvPr id="3" name="loop-0"/>
          <p:cNvSpPr/>
          <p:nvPr/>
        </p:nvSpPr>
        <p:spPr>
          <a:xfrm>
            <a:off x="548640" y="1325880"/>
            <a:ext cx="1664208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329"/>
                </a:solidFill>
              </a:rPr>
              <a:t>1. Observe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562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Read the ML forecast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31136" y="1673352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loop-1"/>
          <p:cNvSpPr/>
          <p:nvPr/>
        </p:nvSpPr>
        <p:spPr>
          <a:xfrm>
            <a:off x="2432304" y="1325880"/>
            <a:ext cx="1664208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9464" y="1463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329"/>
                </a:solidFill>
              </a:rPr>
              <a:t>2. Plan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569464" y="18562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Pick which feeds to check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673352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loop-2"/>
          <p:cNvSpPr/>
          <p:nvPr/>
        </p:nvSpPr>
        <p:spPr>
          <a:xfrm>
            <a:off x="4315968" y="1325880"/>
            <a:ext cx="1664208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53128" y="1463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329"/>
                </a:solidFill>
              </a:rPr>
              <a:t>3. Act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53128" y="18562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Call the tools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98464" y="1673352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loop-3"/>
          <p:cNvSpPr/>
          <p:nvPr/>
        </p:nvSpPr>
        <p:spPr>
          <a:xfrm>
            <a:off x="6199632" y="1325880"/>
            <a:ext cx="1664208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36792" y="1463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329"/>
                </a:solidFill>
              </a:rPr>
              <a:t>4. Reason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36792" y="18562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On the route? In the time window?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882128" y="1673352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loop-4"/>
          <p:cNvSpPr/>
          <p:nvPr/>
        </p:nvSpPr>
        <p:spPr>
          <a:xfrm>
            <a:off x="8083296" y="1325880"/>
            <a:ext cx="1664208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0456" y="1463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329"/>
                </a:solidFill>
              </a:rPr>
              <a:t>5. Reflect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0456" y="18562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Do sources agree?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765792" y="1673352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loop-5"/>
          <p:cNvSpPr/>
          <p:nvPr/>
        </p:nvSpPr>
        <p:spPr>
          <a:xfrm>
            <a:off x="9966960" y="1325880"/>
            <a:ext cx="1664208" cy="1097280"/>
          </a:xfrm>
          <a:prstGeom prst="roundRect">
            <a:avLst>
              <a:gd name="adj" fmla="val 8333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04120" y="1463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6. Decide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0104120" y="18562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Keep or override the alert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↻ repeats until it can decide</a:t>
            </a:r>
            <a:endParaRPr lang="en-US" sz="1200" dirty="0"/>
          </a:p>
        </p:txBody>
      </p:sp>
      <p:sp>
        <p:nvSpPr>
          <p:cNvPr id="27" name="card"/>
          <p:cNvSpPr/>
          <p:nvPr/>
        </p:nvSpPr>
        <p:spPr>
          <a:xfrm>
            <a:off x="548640" y="288036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icon-circle"/>
          <p:cNvSpPr/>
          <p:nvPr/>
        </p:nvSpPr>
        <p:spPr>
          <a:xfrm>
            <a:off x="777240" y="3063240"/>
            <a:ext cx="502920" cy="502920"/>
          </a:xfrm>
          <a:prstGeom prst="ellipse">
            <a:avLst/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pic>
        <p:nvPicPr>
          <p:cNvPr id="29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3173882"/>
            <a:ext cx="281635" cy="28163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777240" y="3657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329"/>
                </a:solidFill>
              </a:rPr>
              <a:t>Govt incident feed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" y="400507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Crashes, breakdowns and closures from the traffic police / transport department</a:t>
            </a:r>
            <a:endParaRPr lang="en-US" sz="1200" dirty="0"/>
          </a:p>
        </p:txBody>
      </p:sp>
      <p:sp>
        <p:nvSpPr>
          <p:cNvPr id="32" name="card"/>
          <p:cNvSpPr/>
          <p:nvPr/>
        </p:nvSpPr>
        <p:spPr>
          <a:xfrm>
            <a:off x="3154680" y="288036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icon-circle"/>
          <p:cNvSpPr/>
          <p:nvPr/>
        </p:nvSpPr>
        <p:spPr>
          <a:xfrm>
            <a:off x="3383280" y="3063240"/>
            <a:ext cx="502920" cy="50292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pic>
        <p:nvPicPr>
          <p:cNvPr id="34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922" y="3173882"/>
            <a:ext cx="281635" cy="281635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3383280" y="3657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329"/>
                </a:solidFill>
              </a:rPr>
              <a:t>Govt roadworks permits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3383280" y="400507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Construction and lane closures from public-works permits</a:t>
            </a:r>
            <a:endParaRPr lang="en-US" sz="1200" dirty="0"/>
          </a:p>
        </p:txBody>
      </p:sp>
      <p:sp>
        <p:nvSpPr>
          <p:cNvPr id="37" name="card"/>
          <p:cNvSpPr/>
          <p:nvPr/>
        </p:nvSpPr>
        <p:spPr>
          <a:xfrm>
            <a:off x="5760720" y="288036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icon-circle"/>
          <p:cNvSpPr/>
          <p:nvPr/>
        </p:nvSpPr>
        <p:spPr>
          <a:xfrm>
            <a:off x="5989320" y="306324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39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962" y="3173882"/>
            <a:ext cx="281635" cy="281635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5989320" y="3657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329"/>
                </a:solidFill>
              </a:rPr>
              <a:t>News stations</a:t>
            </a:r>
            <a:endParaRPr lang="en-US" sz="1500" dirty="0"/>
          </a:p>
        </p:txBody>
      </p:sp>
      <p:sp>
        <p:nvSpPr>
          <p:cNvPr id="41" name="Text 36"/>
          <p:cNvSpPr txBox="1"/>
          <p:nvPr/>
        </p:nvSpPr>
        <p:spPr>
          <a:xfrm>
            <a:off x="5989320" y="400507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Local news reports to cross-check. Live mode adds real web search</a:t>
            </a:r>
            <a:endParaRPr lang="en-US" sz="1200" dirty="0"/>
          </a:p>
        </p:txBody>
      </p:sp>
      <p:sp>
        <p:nvSpPr>
          <p:cNvPr id="42" name="card"/>
          <p:cNvSpPr/>
          <p:nvPr/>
        </p:nvSpPr>
        <p:spPr>
          <a:xfrm>
            <a:off x="548640" y="4937760"/>
            <a:ext cx="7543800" cy="1097280"/>
          </a:xfrm>
          <a:prstGeom prst="roundRect">
            <a:avLst>
              <a:gd name="adj" fmla="val 10000"/>
            </a:avLst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43" name="icon-circle"/>
          <p:cNvSpPr/>
          <p:nvPr/>
        </p:nvSpPr>
        <p:spPr>
          <a:xfrm>
            <a:off x="777240" y="5138928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44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5249570"/>
            <a:ext cx="281635" cy="281635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1463040" y="5074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329"/>
                </a:solidFill>
              </a:rPr>
              <a:t>Two engines, same tools</a:t>
            </a:r>
            <a:endParaRPr lang="en-US" sz="1500" dirty="0"/>
          </a:p>
        </p:txBody>
      </p:sp>
      <p:sp>
        <p:nvSpPr>
          <p:cNvPr id="46" name="Text 40"/>
          <p:cNvSpPr txBox="1"/>
          <p:nvPr/>
        </p:nvSpPr>
        <p:spPr>
          <a:xfrm>
            <a:off x="1463040" y="541324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Built-in agent: runs offline, no key. Claude agent: claude-opus-5-5 drives the tool loop and can search live news. The ML model is not changed.</a:t>
            </a:r>
            <a:endParaRPr lang="en-US" sz="1250" dirty="0"/>
          </a:p>
        </p:txBody>
      </p:sp>
      <p:sp>
        <p:nvSpPr>
          <p:cNvPr id="47" name="card"/>
          <p:cNvSpPr/>
          <p:nvPr/>
        </p:nvSpPr>
        <p:spPr>
          <a:xfrm>
            <a:off x="8321040" y="2880360"/>
            <a:ext cx="3291840" cy="3154680"/>
          </a:xfrm>
          <a:prstGeom prst="roundRect">
            <a:avLst>
              <a:gd name="adj" fmla="val 3478"/>
            </a:avLst>
          </a:prstGeom>
          <a:solidFill>
            <a:srgbClr val="1E2329"/>
          </a:solidFill>
          <a:ln w="12700">
            <a:solidFill>
              <a:srgbClr val="1E2329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859536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Decision rules</a:t>
            </a:r>
            <a:endParaRPr lang="en-US" sz="1700" dirty="0"/>
          </a:p>
        </p:txBody>
      </p:sp>
      <p:sp>
        <p:nvSpPr>
          <p:cNvPr id="49" name="Text 43"/>
          <p:cNvSpPr txBox="1"/>
          <p:nvPr/>
        </p:nvSpPr>
        <p:spPr>
          <a:xfrm>
            <a:off x="8595360" y="35204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</a:rPr>
              <a:t>Road blocked (confirmed) → High, ~97%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</a:rPr>
              <a:t>Lane closed → risk up by lost capacity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</a:rPr>
              <a:t>Unverified rumour → keep forecast, ask a human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</a:rPr>
              <a:t>Off the route or already over → ignore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329"/>
                </a:solidFill>
              </a:rPr>
              <a:t>Demo: a blocked road turns Moderate into a High alert</a:t>
            </a:r>
            <a:endParaRPr lang="en-US" sz="3200" dirty="0"/>
          </a:p>
        </p:txBody>
      </p:sp>
      <p:pic>
        <p:nvPicPr>
          <p:cNvPr id="3" name="agent-shot" descr="Agentic AI tab: ML says Moderate 13%, the agent finds a confirmed crash and raises it to High 97% with diversion ac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858000" cy="3097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651641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The ML model alone said Moderate, 13%. It cannot see the crash.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The agent found an official crash report, confirmed by TV news, so it raised the forecast to High, 97%: divert to Gate 3.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Every step is shown as a trace, so the decision can be checked.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280160"/>
          <a:ext cx="39319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ML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Agent decides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29"/>
                          </a:solidFill>
                        </a:rPr>
                        <a:t>Calm morning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29"/>
                          </a:solidFill>
                        </a:rPr>
                        <a:t>Mod 13%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300"/>
                          </a:solidFill>
                        </a:rPr>
                        <a:t>Keeps it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29"/>
                          </a:solidFill>
                        </a:rPr>
                        <a:t>Accident blocks road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29"/>
                          </a:solidFill>
                        </a:rPr>
                        <a:t>Mod 13%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32020"/>
                          </a:solidFill>
                        </a:rPr>
                        <a:t>High 97%: divert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29"/>
                          </a:solidFill>
                        </a:rPr>
                        <a:t>Roadworks, 1 lane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29"/>
                          </a:solidFill>
                        </a:rPr>
                        <a:t>Mod 19%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32020"/>
                          </a:solidFill>
                        </a:rPr>
                        <a:t>High 80%: leave early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29"/>
                          </a:solidFill>
                        </a:rPr>
                        <a:t>Unverified rumour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29"/>
                          </a:solidFill>
                        </a:rPr>
                        <a:t>Mod 25%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5A00"/>
                          </a:solidFill>
                        </a:rPr>
                        <a:t>Keeps it, human check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29"/>
                          </a:solidFill>
                        </a:rPr>
                        <a:t>Crash already cleared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29"/>
                          </a:solidFill>
                        </a:rPr>
                        <a:t>Mod 3%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300"/>
                          </a:solidFill>
                        </a:rPr>
                        <a:t>Keeps it (over by 07:30)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680960" y="4572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Scenario feeds are simulated examples in a government / news feed format; the ML forecasts under them are real held-out days.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329"/>
                </a:solidFill>
              </a:rPr>
              <a:t>On a year it never saw, it beats every simple rule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3258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</a:rPr>
              <a:t>0.73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1920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macro-F1, vs 0.61 for the best simple rule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5146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03B3B"/>
                </a:solidFill>
              </a:rPr>
              <a:t>80%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108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of High-congestion hours caught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7033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8A317"/>
                </a:solidFill>
              </a:rPr>
              <a:t>~1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4297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false alert per week (out of 10 forecasts)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4892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CA30C"/>
                </a:solidFill>
              </a:rPr>
              <a:t>0.69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5486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macro-F1 even 2 hours ahead (92% of High caught)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329"/>
                </a:solidFill>
              </a:rPr>
              <a:t>Test cases: where it works and where it fails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4206240"/>
                <a:gridCol w="1097280"/>
                <a:gridCol w="2560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Arrival hour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Situation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P(High)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Predicted → actual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12 Sep 2018 08:00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300"/>
                          </a:solidFill>
                        </a:rPr>
                        <a:t>Success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Rainy peak: alert raised and correct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99%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High → High (6,297)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23 Aug 2018 08:00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300"/>
                          </a:solidFill>
                        </a:rPr>
                        <a:t>Success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Event day (State Fair), heavy traffic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93%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High → High (6,162)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25 Dec 2017 08:00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300"/>
                          </a:solidFill>
                        </a:rPr>
                        <a:t>Success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Christmas: no false alarm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0%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Low → Low (1,260)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05 Feb 2018 08:00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32020"/>
                          </a:solidFill>
                        </a:rPr>
                        <a:t>Failure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Quiet 6 AM, then a sudden surge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1%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Low → High (6,048)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19 Apr 2018 09:00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32020"/>
                          </a:solidFill>
                        </a:rPr>
                        <a:t>Failure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Barely over the High cut-off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0%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Moderate → High (5,842)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28 Aug 2018 08:00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32020"/>
                          </a:solidFill>
                        </a:rPr>
                        <a:t>Failure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False alarm: ended just under the cut-off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98%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9"/>
                          </a:solidFill>
                        </a:rPr>
                        <a:t>High → Moderate (5,692)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FEF3F2"/>
          </a:solidFill>
          <a:ln w="12700">
            <a:solidFill>
              <a:srgbClr val="FEF3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329"/>
                </a:solidFill>
              </a:rPr>
              <a:t>Error analysis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983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79% of false alarms ended within 300 veh/h below the cut-off; all 20 missed High hours were within 300 above it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Weakest in fog and rain (67–68% correct), best in snow (91%); all 20 holiday forecasts were right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329"/>
                </a:solidFill>
              </a:rPr>
              <a:t>What drives the forecast, and what it can't do yet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Weather and holidays matter on the days they occur, but they are rare in the test year. The per-forecast "why" chart shows their effect.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704088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329"/>
                </a:solidFill>
              </a:rPr>
              <a:t>Limitations</a:t>
            </a:r>
            <a:endParaRPr lang="en-US" sz="1900" dirty="0"/>
          </a:p>
        </p:txBody>
      </p:sp>
      <p:sp>
        <p:nvSpPr>
          <p:cNvPr id="6" name="icon-circle"/>
          <p:cNvSpPr/>
          <p:nvPr/>
        </p:nvSpPr>
        <p:spPr>
          <a:xfrm>
            <a:off x="7040880" y="1920240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464" y="2020824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80960" y="18836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329"/>
                </a:solidFill>
              </a:rPr>
              <a:t>Not live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680960" y="22128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Replays history; no traffic or weather API yet</a:t>
            </a:r>
            <a:endParaRPr lang="en-US" sz="1300" dirty="0"/>
          </a:p>
        </p:txBody>
      </p:sp>
      <p:sp>
        <p:nvSpPr>
          <p:cNvPr id="10" name="icon-circle"/>
          <p:cNvSpPr/>
          <p:nvPr/>
        </p:nvSpPr>
        <p:spPr>
          <a:xfrm>
            <a:off x="7040880" y="2743200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4" y="28437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680960" y="27066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329"/>
                </a:solidFill>
              </a:rPr>
              <a:t>Stand-in road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7680960" y="3035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Highway I-94, not our gate: retrain on our counts</a:t>
            </a:r>
            <a:endParaRPr lang="en-US" sz="1300" dirty="0"/>
          </a:p>
        </p:txBody>
      </p:sp>
      <p:sp>
        <p:nvSpPr>
          <p:cNvPr id="14" name="icon-circle"/>
          <p:cNvSpPr/>
          <p:nvPr/>
        </p:nvSpPr>
        <p:spPr>
          <a:xfrm>
            <a:off x="7040880" y="3566160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4" y="3666744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680960" y="35295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329"/>
                </a:solidFill>
              </a:rPr>
              <a:t>Volume, not speed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7680960" y="38587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Labels are a proxy; queues and accidents are invisible</a:t>
            </a:r>
            <a:endParaRPr lang="en-US" sz="1300" dirty="0"/>
          </a:p>
        </p:txBody>
      </p:sp>
      <p:sp>
        <p:nvSpPr>
          <p:cNvPr id="18" name="icon-circle"/>
          <p:cNvSpPr/>
          <p:nvPr/>
        </p:nvSpPr>
        <p:spPr>
          <a:xfrm>
            <a:off x="7040880" y="4389120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464" y="4489704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680960" y="43525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329"/>
                </a:solidFill>
              </a:rPr>
              <a:t>Hourly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7680960" y="46817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15-minute data would give earlier, sharper alerts</a:t>
            </a:r>
            <a:endParaRPr lang="en-US" sz="1300" dirty="0"/>
          </a:p>
        </p:txBody>
      </p:sp>
      <p:sp>
        <p:nvSpPr>
          <p:cNvPr id="22" name="icon-circle"/>
          <p:cNvSpPr/>
          <p:nvPr/>
        </p:nvSpPr>
        <p:spPr>
          <a:xfrm>
            <a:off x="7040880" y="5212080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464" y="5312664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680960" y="51755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329"/>
                </a:solidFill>
              </a:rPr>
              <a:t>No campus events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7680960" y="55046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Exams and fests are not in the data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329"/>
                </a:solidFill>
              </a:rPr>
              <a:t>Responsible AI: private, fair about its limits, human in charge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7666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190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Privacy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Vehicle counts only. No cameras, plates or personal data. Uploaded CSVs never leave the browser.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297680" y="13716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icon-circle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176662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7190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Bias &amp; fairness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3317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One US highway; weaker in fog and rain (67–68%). Balanced class weights so High isn't ignored.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8046720" y="13716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icon-circle"/>
          <p:cNvSpPr/>
          <p:nvPr/>
        </p:nvSpPr>
        <p:spPr>
          <a:xfrm>
            <a:off x="8321040" y="1645920"/>
            <a:ext cx="548640" cy="54864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741" y="17666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17190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Security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3317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Static site: no server, database or keys. User text is escaped; files are parsed as plain data.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548640" y="3749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icon-circle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414406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0965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Accessibility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709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Word + icon for every level, colour-blind-safe colours, keyboard use, screen-reader labels, dark mode, mobile.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4297680" y="3749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icon-circle"/>
          <p:cNvSpPr/>
          <p:nvPr/>
        </p:nvSpPr>
        <p:spPr>
          <a:xfrm>
            <a:off x="4572000" y="4023360"/>
            <a:ext cx="548640" cy="548640"/>
          </a:xfrm>
          <a:prstGeom prst="ellipse">
            <a:avLst/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701" y="414406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03520" y="40965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Limitations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4709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Proxy labels, stand-in road, hourly data, no live feed. All stated on the site and in the report.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8046720" y="3749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icon-circle"/>
          <p:cNvSpPr/>
          <p:nvPr/>
        </p:nvSpPr>
        <p:spPr>
          <a:xfrm>
            <a:off x="8321040" y="4023360"/>
            <a:ext cx="548640" cy="54864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1E2329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741" y="414406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52560" y="40965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Human oversight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709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Advisory only: the transport office decides. Borderline 40–60% shown as a probability. Nothing automated.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329"/>
                </a:solidFill>
              </a:rPr>
              <a:t>Aligned with the UN Sustainable Development Goals</a:t>
            </a:r>
            <a:endParaRPr lang="en-US" sz="3200" dirty="0"/>
          </a:p>
        </p:txBody>
      </p:sp>
      <p:sp>
        <p:nvSpPr>
          <p:cNvPr id="3" name="sdg-11"/>
          <p:cNvSpPr/>
          <p:nvPr/>
        </p:nvSpPr>
        <p:spPr>
          <a:xfrm>
            <a:off x="548640" y="132588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99D26"/>
          </a:solidFill>
          <a:ln w="12700">
            <a:solidFill>
              <a:srgbClr val="F99D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716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SDG 11: Sustainable cities &amp; communities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373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Target 11.2: safer, more accessible transport at a shared choke point; pushes shuttles and alternate gates.</a:t>
            </a:r>
            <a:endParaRPr lang="en-US" sz="1400" dirty="0"/>
          </a:p>
        </p:txBody>
      </p:sp>
      <p:sp>
        <p:nvSpPr>
          <p:cNvPr id="7" name="sdg-3"/>
          <p:cNvSpPr/>
          <p:nvPr/>
        </p:nvSpPr>
        <p:spPr>
          <a:xfrm>
            <a:off x="548640" y="2304288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4C9F38"/>
          </a:solidFill>
          <a:ln w="12700">
            <a:solidFill>
              <a:srgbClr val="4C9F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042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500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SDG 3: Good health &amp; well-being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71576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3.6 road injuries and 3.9 air pollution: calmer gate queues, less stop-start exhaust.</a:t>
            </a:r>
            <a:endParaRPr lang="en-US" sz="1400" dirty="0"/>
          </a:p>
        </p:txBody>
      </p:sp>
      <p:sp>
        <p:nvSpPr>
          <p:cNvPr id="11" name="sdg-13"/>
          <p:cNvSpPr/>
          <p:nvPr/>
        </p:nvSpPr>
        <p:spPr>
          <a:xfrm>
            <a:off x="548640" y="3282696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3F7E44"/>
          </a:solidFill>
          <a:ln w="12700">
            <a:solidFill>
              <a:srgbClr val="3F7E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826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32841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SDG 13: Climate action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69417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Smoother flow and more shuttle use mean less idling and lower emissions.</a:t>
            </a:r>
            <a:endParaRPr lang="en-US" sz="1400" dirty="0"/>
          </a:p>
        </p:txBody>
      </p:sp>
      <p:sp>
        <p:nvSpPr>
          <p:cNvPr id="15" name="sdg-9"/>
          <p:cNvSpPr/>
          <p:nvPr/>
        </p:nvSpPr>
        <p:spPr>
          <a:xfrm>
            <a:off x="548640" y="4261104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D6925"/>
          </a:solidFill>
          <a:ln w="12700">
            <a:solidFill>
              <a:srgbClr val="FD692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2611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9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3068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SDG 9: Industry, innovation &amp; infrastructure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67258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9.1: more out of existing roads through data, not new construction.</a:t>
            </a:r>
            <a:endParaRPr lang="en-US" sz="1400" dirty="0"/>
          </a:p>
        </p:txBody>
      </p:sp>
      <p:sp>
        <p:nvSpPr>
          <p:cNvPr id="19" name="sdg-4"/>
          <p:cNvSpPr/>
          <p:nvPr/>
        </p:nvSpPr>
        <p:spPr>
          <a:xfrm>
            <a:off x="548640" y="5239512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C5192D"/>
          </a:solidFill>
          <a:ln w="12700">
            <a:solidFill>
              <a:srgbClr val="C519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239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52852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329"/>
                </a:solidFill>
              </a:rPr>
              <a:t>SDG 4: Quality education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6509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4.a: students reach class on time and safely.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329"/>
                </a:solidFill>
              </a:rPr>
              <a:t>Implemented today, and what comes next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440680" cy="4709160"/>
          </a:xfrm>
          <a:prstGeom prst="roundRect">
            <a:avLst>
              <a:gd name="adj" fmla="val 2330"/>
            </a:avLst>
          </a:prstGeom>
          <a:solidFill>
            <a:srgbClr val="EAF6EA"/>
          </a:solidFill>
          <a:ln w="12700">
            <a:solidFill>
              <a:srgbClr val="EAF6EA"/>
            </a:solidFill>
            <a:prstDash val="solid"/>
          </a:ln>
        </p:spPr>
      </p:sp>
      <p:sp>
        <p:nvSpPr>
          <p:cNvPr id="4" name="card"/>
          <p:cNvSpPr/>
          <p:nvPr/>
        </p:nvSpPr>
        <p:spPr>
          <a:xfrm>
            <a:off x="6172200" y="1325880"/>
            <a:ext cx="5440680" cy="4709160"/>
          </a:xfrm>
          <a:prstGeom prst="roundRect">
            <a:avLst>
              <a:gd name="adj" fmla="val 233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6300"/>
                </a:solidFill>
              </a:rPr>
              <a:t>Implemented and working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329"/>
                </a:solidFill>
              </a:rPr>
              <a:t>Real-data model, beats all baselines on a held-out year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329"/>
                </a:solidFill>
              </a:rPr>
              <a:t>1-hour-ahead forecast, alert at P(High) ≥ 50%, explanations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329"/>
                </a:solidFill>
              </a:rPr>
              <a:t>Web dashboard: replay, what-if, manual entry, CSV upload, performance, responsible AI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329"/>
                </a:solidFill>
              </a:rPr>
              <a:t>Agentic AI layer: tool loop that overrides the alert for crashes and closures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329"/>
                </a:solidFill>
              </a:rPr>
              <a:t>Model runs in the browser; deployed from GitHub to Vercel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329"/>
                </a:solidFill>
              </a:rPr>
              <a:t>Metrics, confusion matrix, test cases with failures, parity tests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329"/>
                </a:solidFill>
              </a:rPr>
              <a:t>Planned next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329"/>
                </a:solidFill>
              </a:rPr>
              <a:t>Count vehicles at our own gate for a few weeks and retrain (same code)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329"/>
                </a:solidFill>
              </a:rPr>
              <a:t>Speed or queue labels from a camera or GPS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329"/>
                </a:solidFill>
              </a:rPr>
              <a:t>Live traffic counter and weather-forecast APIs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329"/>
                </a:solidFill>
              </a:rPr>
              <a:t>Real government incident and roadworks APIs for the agent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329"/>
                </a:solidFill>
              </a:rPr>
              <a:t>SMS or app notifications run by the transport office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329"/>
                </a:solidFill>
              </a:rPr>
              <a:t>15-minute data and the campus event calendar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822960" cy="82296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Catches 4 of 5 jams, one hour early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</a:rPr>
              <a:t>About one false alarm a week · explainable · private · runs free in any browser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Code: github.com/AnmolDiwan/gateflow-congestion-alert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Data: Hogue (2019), Metro Interstate Traffic Volume, UCI ML Repository, CC BY 4.0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teFlow Signal">
  <a:themeElements>
    <a:clrScheme name="GateFlow Signal">
      <a:dk1>
        <a:srgbClr val="1E2329"/>
      </a:dk1>
      <a:lt1>
        <a:srgbClr val="FFFFFF"/>
      </a:lt1>
      <a:dk2>
        <a:srgbClr val="2B3440"/>
      </a:dk2>
      <a:lt2>
        <a:srgbClr val="F3F4F6"/>
      </a:lt2>
      <a:accent1>
        <a:srgbClr val="E8A317"/>
      </a:accent1>
      <a:accent2>
        <a:srgbClr val="D03B3B"/>
      </a:accent2>
      <a:accent3>
        <a:srgbClr val="0CA30C"/>
      </a:accent3>
      <a:accent4>
        <a:srgbClr val="2A78D6"/>
      </a:accent4>
      <a:accent5>
        <a:srgbClr val="6B7280"/>
      </a:accent5>
      <a:accent6>
        <a:srgbClr val="94A3B8"/>
      </a:accent6>
      <a:hlink>
        <a:srgbClr val="2A78D6"/>
      </a:hlink>
      <a:folHlink>
        <a:srgbClr val="6250D6"/>
      </a:folHlink>
    </a:clrScheme>
    <a:fontScheme name="GateFlow Sign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GateFlow: Smart Traffic Congestion Alert</dc:title>
  <dc:subject>PptxGenJS Presentation</dc:subject>
  <dc:creator>GateFlow team</dc:creator>
  <cp:lastModifiedBy>GateFlow team</cp:lastModifiedBy>
  <cp:revision>1</cp:revision>
  <dcterms:created xsi:type="dcterms:W3CDTF">2026-10-25T06:51:47Z</dcterms:created>
  <dcterms:modified xsi:type="dcterms:W3CDTF">2026-10-25T06:51:47Z</dcterms:modified>
</cp:coreProperties>
</file>